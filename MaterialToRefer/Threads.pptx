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56" r:id="rId2"/>
    <p:sldId id="365" r:id="rId3"/>
    <p:sldId id="342" r:id="rId4"/>
    <p:sldId id="357" r:id="rId5"/>
    <p:sldId id="288" r:id="rId6"/>
    <p:sldId id="343" r:id="rId7"/>
    <p:sldId id="344" r:id="rId8"/>
    <p:sldId id="345" r:id="rId9"/>
    <p:sldId id="358" r:id="rId10"/>
    <p:sldId id="346" r:id="rId11"/>
    <p:sldId id="347" r:id="rId12"/>
    <p:sldId id="348" r:id="rId13"/>
    <p:sldId id="349" r:id="rId14"/>
    <p:sldId id="350" r:id="rId15"/>
    <p:sldId id="351" r:id="rId16"/>
    <p:sldId id="353" r:id="rId17"/>
    <p:sldId id="355" r:id="rId18"/>
    <p:sldId id="359" r:id="rId19"/>
    <p:sldId id="360" r:id="rId20"/>
    <p:sldId id="361" r:id="rId21"/>
    <p:sldId id="363" r:id="rId22"/>
    <p:sldId id="362" r:id="rId23"/>
    <p:sldId id="364" r:id="rId24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3950" autoAdjust="0"/>
    <p:restoredTop sz="94700" autoAdjust="0"/>
  </p:normalViewPr>
  <p:slideViewPr>
    <p:cSldViewPr>
      <p:cViewPr varScale="1">
        <p:scale>
          <a:sx n="81" d="100"/>
          <a:sy n="81" d="100"/>
        </p:scale>
        <p:origin x="196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76C2C74B-C0A5-443E-94D7-04D63D3906D9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A9F2D6A8-F044-41C6-8960-F647B41188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26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0"/>
            <a:ext cx="8001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0"/>
            <a:ext cx="8001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0"/>
            <a:ext cx="8001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86535" y="908720"/>
            <a:ext cx="838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b="1" dirty="0"/>
              <a:t>Threads</a:t>
            </a:r>
            <a:r>
              <a:rPr lang="en-US" sz="2800" dirty="0"/>
              <a:t> are kind of processes within a process, sharing address space, running as they were separate processes.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Useful on systems with multiple CPUs, where real parallelism exists, also in single CPU with multiple ALUs.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In many applications multiple activities are going on at once. Some may block from time to time.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Decomposing it into multiple sequential threads running quasi-parallel simplifies programming model.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Threads creation and destruction is X10-X100 faster than processes (context switch).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Thread Usage</a:t>
            </a:r>
          </a:p>
        </p:txBody>
      </p:sp>
    </p:spTree>
    <p:extLst>
      <p:ext uri="{BB962C8B-B14F-4D97-AF65-F5344CB8AC3E}">
        <p14:creationId xmlns:p14="http://schemas.microsoft.com/office/powerpoint/2010/main" val="324106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403775"/>
            <a:ext cx="8229601" cy="314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63518" y="4779150"/>
            <a:ext cx="82232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 thread switch should be much more efficient than a process switch, which typically requires hundreds to thousands of processor cycles.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Thread Hardware</a:t>
            </a:r>
          </a:p>
        </p:txBody>
      </p:sp>
    </p:spTree>
    <p:extLst>
      <p:ext uri="{BB962C8B-B14F-4D97-AF65-F5344CB8AC3E}">
        <p14:creationId xmlns:p14="http://schemas.microsoft.com/office/powerpoint/2010/main" val="386072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/>
              <a:t>Overview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81000" y="1216383"/>
            <a:ext cx="838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Having multiple threads running in parallel in one process is analogous to having multiple processes running in parallel in one computer.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62" y="3016583"/>
            <a:ext cx="7630675" cy="284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375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80" y="1088740"/>
            <a:ext cx="7510767" cy="436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81590" y="5679250"/>
            <a:ext cx="7380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Single-threaded and multithreaded processes.</a:t>
            </a:r>
          </a:p>
        </p:txBody>
      </p:sp>
    </p:spTree>
    <p:extLst>
      <p:ext uri="{BB962C8B-B14F-4D97-AF65-F5344CB8AC3E}">
        <p14:creationId xmlns:p14="http://schemas.microsoft.com/office/powerpoint/2010/main" val="281442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5</a:t>
            </a:fld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72533" y="728700"/>
                <a:ext cx="8382000" cy="5447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Most applications running on modern computers are multithreaded.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An application is implemented as a separate process with several threads.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Web browser has a thread displaying images or text. Another thread retrieves data from network.</a:t>
                </a:r>
                <a:r>
                  <a:rPr lang="en-US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Word processor has graphics display thread, another responding keystrokes, and thread performing background spelling and grammar checking.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CPU-intensive  applications perform tasks in parallel  to leverage processing capabilities on multicore systems.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33" y="728700"/>
                <a:ext cx="8382000" cy="5447645"/>
              </a:xfrm>
              <a:prstGeom prst="rect">
                <a:avLst/>
              </a:prstGeom>
              <a:blipFill rotWithShape="1">
                <a:blip r:embed="rId2"/>
                <a:stretch>
                  <a:fillRect l="-1455" t="-1008" r="-1527" b="-2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2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6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728700"/>
            <a:ext cx="83820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b="1" dirty="0"/>
              <a:t>Example</a:t>
            </a:r>
            <a:r>
              <a:rPr lang="en-US" sz="2800" dirty="0"/>
              <a:t>: A web server accepts concurrently thousands client requests for web pages, images, sound, etc.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Single-threaded process is able to service only one client at a time. Client will wait long time for service.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Upon request the server creates a separate, time and resource consuming process. A huge overhead.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81590" y="3834045"/>
            <a:ext cx="7335815" cy="2430270"/>
            <a:chOff x="881590" y="3834045"/>
            <a:chExt cx="7335815" cy="2430270"/>
          </a:xfrm>
        </p:grpSpPr>
        <p:grpSp>
          <p:nvGrpSpPr>
            <p:cNvPr id="2" name="Group 1"/>
            <p:cNvGrpSpPr/>
            <p:nvPr/>
          </p:nvGrpSpPr>
          <p:grpSpPr>
            <a:xfrm>
              <a:off x="881590" y="3834045"/>
              <a:ext cx="7335815" cy="1840067"/>
              <a:chOff x="656564" y="4284095"/>
              <a:chExt cx="7335815" cy="1840067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64" y="4284095"/>
                <a:ext cx="7335815" cy="18400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1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31740" y="5405877"/>
                <a:ext cx="1935215" cy="718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" name="TextBox 9"/>
            <p:cNvSpPr txBox="1"/>
            <p:nvPr/>
          </p:nvSpPr>
          <p:spPr>
            <a:xfrm>
              <a:off x="1646675" y="5741095"/>
              <a:ext cx="58056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Multithreaded server architecture.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97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932522"/>
            <a:ext cx="838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Most today’s </a:t>
            </a:r>
            <a:r>
              <a:rPr lang="en-US" sz="2800" b="1" dirty="0"/>
              <a:t>OS kernels </a:t>
            </a:r>
            <a:r>
              <a:rPr lang="en-US" sz="2800" dirty="0"/>
              <a:t>are multithreaded. Each thread performs a specific task, such as managing devices, managing memory, or interrupt handling.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benefits of multithreaded programming are: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Responsiveness to user</a:t>
            </a:r>
            <a:r>
              <a:rPr lang="en-US" sz="2800" dirty="0"/>
              <a:t>. For instance, when user clicks button triggering execution of time-consuming task. 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Resource sharing</a:t>
            </a:r>
            <a:r>
              <a:rPr lang="en-US" sz="2800" dirty="0"/>
              <a:t>. Processes share resources by shared memory and message passing, handled by programmer.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Threads share automatically memory and resources of the process to which they belong.</a:t>
            </a:r>
          </a:p>
        </p:txBody>
      </p:sp>
    </p:spTree>
    <p:extLst>
      <p:ext uri="{BB962C8B-B14F-4D97-AF65-F5344CB8AC3E}">
        <p14:creationId xmlns:p14="http://schemas.microsoft.com/office/powerpoint/2010/main" val="94298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8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1223755"/>
            <a:ext cx="83820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</a:pPr>
            <a:r>
              <a:rPr lang="en-US" sz="2800" b="1" dirty="0"/>
              <a:t>Economy</a:t>
            </a:r>
            <a:r>
              <a:rPr lang="en-US" sz="2800" dirty="0"/>
              <a:t>. Allocating memory and resources for process creation is costly.</a:t>
            </a:r>
          </a:p>
          <a:p>
            <a:pPr algn="just">
              <a:spcAft>
                <a:spcPts val="2400"/>
              </a:spcAft>
            </a:pPr>
            <a:r>
              <a:rPr lang="en-US" sz="2800" dirty="0"/>
              <a:t>X30 slower process creation than thread, X5 slower context switching (</a:t>
            </a:r>
            <a:r>
              <a:rPr lang="en-US" sz="2800" b="1" dirty="0"/>
              <a:t>Solaris</a:t>
            </a:r>
            <a:r>
              <a:rPr lang="en-US" sz="2800" dirty="0"/>
              <a:t>).</a:t>
            </a:r>
          </a:p>
          <a:p>
            <a:pPr algn="just">
              <a:spcAft>
                <a:spcPts val="2400"/>
              </a:spcAft>
            </a:pPr>
            <a:r>
              <a:rPr lang="en-US" sz="2800" b="1" dirty="0"/>
              <a:t>Scalability. </a:t>
            </a:r>
            <a:r>
              <a:rPr lang="en-US" sz="2800" dirty="0"/>
              <a:t>Benefits are greater in multiprocessor, where threads run in parallel on different cores.</a:t>
            </a:r>
          </a:p>
          <a:p>
            <a:pPr algn="just">
              <a:spcAft>
                <a:spcPts val="2400"/>
              </a:spcAft>
            </a:pPr>
            <a:r>
              <a:rPr lang="en-US" sz="2800" dirty="0"/>
              <a:t>Single-threaded process can run on only one processor, regardless how many are available. </a:t>
            </a:r>
          </a:p>
        </p:txBody>
      </p:sp>
    </p:spTree>
    <p:extLst>
      <p:ext uri="{BB962C8B-B14F-4D97-AF65-F5344CB8AC3E}">
        <p14:creationId xmlns:p14="http://schemas.microsoft.com/office/powerpoint/2010/main" val="50563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700528"/>
            <a:ext cx="8382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Like process, a thread can be in </a:t>
            </a:r>
            <a:r>
              <a:rPr lang="en-US" sz="2800" b="1" dirty="0"/>
              <a:t>running</a:t>
            </a:r>
            <a:r>
              <a:rPr lang="en-US" sz="2800" dirty="0"/>
              <a:t>, </a:t>
            </a:r>
            <a:r>
              <a:rPr lang="en-US" sz="2800" b="1" dirty="0"/>
              <a:t>blocked</a:t>
            </a:r>
            <a:r>
              <a:rPr lang="en-US" sz="2800" dirty="0"/>
              <a:t>, </a:t>
            </a:r>
            <a:r>
              <a:rPr lang="en-US" sz="2800" b="1" dirty="0"/>
              <a:t>ready</a:t>
            </a:r>
            <a:r>
              <a:rPr lang="en-US" sz="2800" dirty="0"/>
              <a:t>, or </a:t>
            </a:r>
            <a:r>
              <a:rPr lang="en-US" sz="2800" b="1" dirty="0"/>
              <a:t>terminated</a:t>
            </a:r>
            <a:r>
              <a:rPr lang="en-US" sz="2800" dirty="0"/>
              <a:t> states. state transitions are same as for process.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Running</a:t>
            </a:r>
            <a:r>
              <a:rPr lang="en-US" sz="2800" dirty="0"/>
              <a:t> thread currently has the CPU and is active. </a:t>
            </a:r>
            <a:r>
              <a:rPr lang="en-US" sz="2800" b="1" dirty="0"/>
              <a:t>Blocked</a:t>
            </a:r>
            <a:r>
              <a:rPr lang="en-US" sz="2800" dirty="0"/>
              <a:t> thread is waiting for some event to unblock it, e.g. read from the keyboard.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Ready</a:t>
            </a:r>
            <a:r>
              <a:rPr lang="en-US" sz="2800" dirty="0"/>
              <a:t> thread is scheduled to run and will when its turn comes up.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Each thread has its own stack, containing one </a:t>
            </a:r>
            <a:r>
              <a:rPr lang="en-US" sz="2800" b="1" dirty="0"/>
              <a:t>frame</a:t>
            </a:r>
            <a:r>
              <a:rPr lang="en-US" sz="2800" dirty="0"/>
              <a:t> for each procedure called but not yet returned. It contains the procedure’s local variables and the return address.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8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10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1043735"/>
            <a:ext cx="838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Multiple CPUs, named </a:t>
            </a:r>
            <a:r>
              <a:rPr lang="en-US" sz="2800" b="1" dirty="0"/>
              <a:t>multicore </a:t>
            </a:r>
            <a:r>
              <a:rPr lang="en-US" sz="2800" dirty="0"/>
              <a:t>or</a:t>
            </a:r>
            <a:r>
              <a:rPr lang="en-US" sz="2800" b="1" dirty="0"/>
              <a:t> multiprocessor (MP) </a:t>
            </a:r>
            <a:r>
              <a:rPr lang="en-US" sz="2800" dirty="0"/>
              <a:t>systems, are integrated on single chip.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Multicore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590" y="5679250"/>
            <a:ext cx="7380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Parallel execution on a multicore system.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02205" y="2528900"/>
            <a:ext cx="8120245" cy="2443860"/>
            <a:chOff x="502205" y="2528900"/>
            <a:chExt cx="8120245" cy="244386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205" y="2528900"/>
              <a:ext cx="8120245" cy="743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595" y="3564015"/>
              <a:ext cx="4860540" cy="1408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Straight Arrow Connector 4"/>
            <p:cNvCxnSpPr/>
            <p:nvPr/>
          </p:nvCxnSpPr>
          <p:spPr>
            <a:xfrm>
              <a:off x="6327195" y="4239090"/>
              <a:ext cx="184520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642230" y="3834045"/>
              <a:ext cx="990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005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11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1223755"/>
            <a:ext cx="83820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 core appears as a separate processor to the OS. </a:t>
            </a:r>
            <a:r>
              <a:rPr lang="en-US" sz="2800" b="1" dirty="0"/>
              <a:t>Multithreaded programming </a:t>
            </a:r>
            <a:r>
              <a:rPr lang="en-US" sz="2800" dirty="0"/>
              <a:t>provides more efficiency and improved concurrency.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A system is </a:t>
            </a:r>
            <a:r>
              <a:rPr lang="en-US" sz="2800" b="1" dirty="0"/>
              <a:t>parallel</a:t>
            </a:r>
            <a:r>
              <a:rPr lang="en-US" sz="2800" dirty="0"/>
              <a:t> if it performs more than one task simultaneously.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In contrast, a </a:t>
            </a:r>
            <a:r>
              <a:rPr lang="en-US" sz="2800" b="1" dirty="0"/>
              <a:t>concurrent</a:t>
            </a:r>
            <a:r>
              <a:rPr lang="en-US" sz="2800" dirty="0"/>
              <a:t> system supports more than one task by allowing all the tasks to make progress.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Modern Intel CPUs support 2 threads per core (4-16), Oracle T5 CPU supports 16 threads per core (16).</a:t>
            </a:r>
          </a:p>
        </p:txBody>
      </p:sp>
    </p:spTree>
    <p:extLst>
      <p:ext uri="{BB962C8B-B14F-4D97-AF65-F5344CB8AC3E}">
        <p14:creationId xmlns:p14="http://schemas.microsoft.com/office/powerpoint/2010/main" val="19702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12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998730"/>
            <a:ext cx="838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b="1" dirty="0"/>
              <a:t>Identifying tasks</a:t>
            </a:r>
            <a:r>
              <a:rPr lang="en-US" sz="2800" dirty="0"/>
              <a:t>. Divide application into separate, concurrent tasks, running in parallel on individual cores.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Balance</a:t>
            </a:r>
            <a:r>
              <a:rPr lang="en-US" sz="2800" dirty="0"/>
              <a:t>. Define tasks performing equal work of equal value. 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Data splitting</a:t>
            </a:r>
            <a:r>
              <a:rPr lang="en-US" sz="2800" dirty="0"/>
              <a:t>. The data accessed and manipulated by the tasks should be divided to run on separate cores.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Data dependency</a:t>
            </a:r>
            <a:r>
              <a:rPr lang="en-US" sz="2800" dirty="0"/>
              <a:t>. When task depends on data of another, ensure that tasks execution is in sync.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Testing and debugging</a:t>
            </a:r>
            <a:r>
              <a:rPr lang="en-US" sz="2800" dirty="0"/>
              <a:t>. It is more difficult for concurrent programs than single-threaded applications.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MP Programming Challenges</a:t>
            </a:r>
          </a:p>
        </p:txBody>
      </p:sp>
    </p:spTree>
    <p:extLst>
      <p:ext uri="{BB962C8B-B14F-4D97-AF65-F5344CB8AC3E}">
        <p14:creationId xmlns:p14="http://schemas.microsoft.com/office/powerpoint/2010/main" val="16497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13</a:t>
            </a:fld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72533" y="908720"/>
                <a:ext cx="8382000" cy="5447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0000FF"/>
                    </a:solidFill>
                  </a:rPr>
                  <a:t>Data parallelism</a:t>
                </a:r>
                <a:r>
                  <a:rPr lang="en-US" sz="2800" dirty="0"/>
                  <a:t>.</a:t>
                </a:r>
                <a:r>
                  <a:rPr 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800" dirty="0"/>
                  <a:t>Distributes subsets of same data across multiple cores, each performing the same operation.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Summing an </a:t>
                </a:r>
                <a:r>
                  <a:rPr lang="en-US" sz="2800" i="1" dirty="0"/>
                  <a:t>N</a:t>
                </a:r>
                <a:r>
                  <a:rPr lang="en-US" sz="2800" dirty="0"/>
                  <a:t>-size array. On single-core, one thread sums the elements [0] . . . [</a:t>
                </a:r>
                <a:r>
                  <a:rPr lang="en-US" sz="2800" i="1" dirty="0"/>
                  <a:t>N </a:t>
                </a:r>
                <a:r>
                  <a:rPr lang="en-US" sz="2800" dirty="0"/>
                  <a:t>− 1]. 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On dual-core the data can be split into two halves for two threads running in parallel on separate cores.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0000FF"/>
                    </a:solidFill>
                  </a:rPr>
                  <a:t>Task parallelism</a:t>
                </a:r>
                <a:r>
                  <a:rPr lang="en-US" sz="2800" dirty="0"/>
                  <a:t>.</a:t>
                </a:r>
                <a:r>
                  <a:rPr lang="en-US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800"/>
                  <a:t>Distributes </a:t>
                </a:r>
                <a:r>
                  <a:rPr lang="en-US" sz="2800" dirty="0"/>
                  <a:t>tasks (threads) across multiple cores, Each performing a unique operation.</a:t>
                </a:r>
                <a:r>
                  <a:rPr lang="en-US" sz="2800" dirty="0">
                    <a:ea typeface="Cambria Math"/>
                  </a:rPr>
                  <a:t> </a:t>
                </a:r>
                <a:endParaRPr lang="en-US" sz="28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Different threads may operate on the same or different data. Applications may use a hybrid of parallelism types.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33" y="908720"/>
                <a:ext cx="8382000" cy="5447645"/>
              </a:xfrm>
              <a:prstGeom prst="rect">
                <a:avLst/>
              </a:prstGeom>
              <a:blipFill rotWithShape="1">
                <a:blip r:embed="rId2"/>
                <a:stretch>
                  <a:fillRect l="-1455" t="-1007" r="-1527" b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Types of Parallelism</a:t>
            </a:r>
          </a:p>
        </p:txBody>
      </p:sp>
    </p:spTree>
    <p:extLst>
      <p:ext uri="{BB962C8B-B14F-4D97-AF65-F5344CB8AC3E}">
        <p14:creationId xmlns:p14="http://schemas.microsoft.com/office/powerpoint/2010/main" val="156219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14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908720"/>
            <a:ext cx="8382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b="1" dirty="0"/>
              <a:t>User threads </a:t>
            </a:r>
            <a:r>
              <a:rPr lang="en-US" sz="2800" dirty="0"/>
              <a:t>are managed without kernel support. </a:t>
            </a:r>
            <a:r>
              <a:rPr lang="en-US" sz="2800" b="1" dirty="0"/>
              <a:t>Kernel threads </a:t>
            </a:r>
            <a:r>
              <a:rPr lang="en-US" sz="2800" dirty="0"/>
              <a:t>are supported and managed directly by the OS.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Relationship exists between user and kernel threads.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Multithreading Models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51621" y="2933945"/>
            <a:ext cx="6930770" cy="3270033"/>
            <a:chOff x="1151621" y="2933945"/>
            <a:chExt cx="6930770" cy="327003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621" y="2933945"/>
              <a:ext cx="3420379" cy="3270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572001" y="4307351"/>
              <a:ext cx="35103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Many-to-one model.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2585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15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683695"/>
            <a:ext cx="8382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0000FF"/>
                </a:solidFill>
              </a:rPr>
              <a:t>many-to-one</a:t>
            </a:r>
            <a:r>
              <a:rPr lang="en-US" sz="2800" dirty="0"/>
              <a:t> model maps many user-level threads to one kernel thread.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Thread management is done by the library in user space, so it is efficient.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entire process will block if a thread makes a blocking system call.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Because only one thread can access the kernel at a time, multiple threads are </a:t>
            </a:r>
            <a:r>
              <a:rPr lang="en-US" sz="2800" b="1" dirty="0"/>
              <a:t>unable</a:t>
            </a:r>
            <a:r>
              <a:rPr lang="en-US" sz="2800" dirty="0"/>
              <a:t> to run in </a:t>
            </a:r>
            <a:r>
              <a:rPr lang="en-US" sz="2800" b="1" dirty="0"/>
              <a:t>parallel</a:t>
            </a:r>
            <a:r>
              <a:rPr lang="en-US" sz="2800" dirty="0"/>
              <a:t> on multicore systems.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>
                <a:solidFill>
                  <a:srgbClr val="0000FF"/>
                </a:solidFill>
              </a:rPr>
              <a:t>One-to-one</a:t>
            </a:r>
            <a:r>
              <a:rPr lang="en-US" sz="2800" dirty="0"/>
              <a:t> model maps each user thread to a kernel thread.</a:t>
            </a:r>
          </a:p>
        </p:txBody>
      </p:sp>
    </p:spTree>
    <p:extLst>
      <p:ext uri="{BB962C8B-B14F-4D97-AF65-F5344CB8AC3E}">
        <p14:creationId xmlns:p14="http://schemas.microsoft.com/office/powerpoint/2010/main" val="143447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16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3203975"/>
            <a:ext cx="83820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One-to-one provides more concurrency than many-to-one by allowing another thread to run when thread makes blocking system call.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It also allows multiple threads to run in parallel on multiprocessors.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Linux and MS-Windows OS implement one-to-one.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21550" y="953725"/>
            <a:ext cx="7785864" cy="1952625"/>
            <a:chOff x="521550" y="953725"/>
            <a:chExt cx="7785864" cy="195262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550" y="953725"/>
              <a:ext cx="4762500" cy="1952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5284049" y="1668427"/>
              <a:ext cx="30233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One-to-one model.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14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17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1247267"/>
            <a:ext cx="83820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 drawback is that creating a user thread requires creating the corresponding kernel thread.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Because overhead of creating kernel threads burden performance, one-to-one implementations restrict the number of threads in the system.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Many-to-one</a:t>
            </a:r>
            <a:r>
              <a:rPr lang="en-US" sz="2800" dirty="0"/>
              <a:t> allows creation of many user threads, but not true concurrency, because of the single thread. 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One-to-one</a:t>
            </a:r>
            <a:r>
              <a:rPr lang="en-US" sz="2800" dirty="0"/>
              <a:t> allows greater concurrency, but care must be taken not to create too many threads. </a:t>
            </a:r>
          </a:p>
        </p:txBody>
      </p:sp>
    </p:spTree>
    <p:extLst>
      <p:ext uri="{BB962C8B-B14F-4D97-AF65-F5344CB8AC3E}">
        <p14:creationId xmlns:p14="http://schemas.microsoft.com/office/powerpoint/2010/main" val="1056660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18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1138384"/>
            <a:ext cx="83820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A </a:t>
            </a:r>
            <a:r>
              <a:rPr lang="en-US" sz="2800" b="1" dirty="0"/>
              <a:t>thread library </a:t>
            </a:r>
            <a:r>
              <a:rPr lang="en-US" sz="2800" dirty="0"/>
              <a:t>provides the programmer with an API for creating and managing threads.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There are two ways of implementing a thread library.</a:t>
            </a:r>
          </a:p>
          <a:p>
            <a:pPr algn="just">
              <a:spcAft>
                <a:spcPts val="1200"/>
              </a:spcAft>
            </a:pPr>
            <a:r>
              <a:rPr lang="en-US" sz="2800" b="1" dirty="0"/>
              <a:t>User space </a:t>
            </a:r>
            <a:r>
              <a:rPr lang="en-US" sz="2800" dirty="0"/>
              <a:t>with no kernel support. All code and data structures for the library exist in user space.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Invoking a function in the library results in a local function call in user space and not a system call.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The second approach implements a </a:t>
            </a:r>
            <a:r>
              <a:rPr lang="en-US" sz="2800" b="1" dirty="0"/>
              <a:t>kernel-leve</a:t>
            </a:r>
            <a:r>
              <a:rPr lang="en-US" sz="2800" dirty="0"/>
              <a:t>l library supported directly by the OS.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Thread Libraries</a:t>
            </a:r>
          </a:p>
        </p:txBody>
      </p:sp>
    </p:spTree>
    <p:extLst>
      <p:ext uri="{BB962C8B-B14F-4D97-AF65-F5344CB8AC3E}">
        <p14:creationId xmlns:p14="http://schemas.microsoft.com/office/powerpoint/2010/main" val="19550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19</a:t>
            </a:fld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72533" y="773705"/>
                <a:ext cx="8382000" cy="5317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Library code and data structures exist in kernel space. Invoking a function in the API for the library results in a system call to the kernel.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A multithreaded program that performs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𝑠𝑢𝑚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sz="2800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sz="2800" dirty="0"/>
                  <a:t>. The upper bounds of the summation is entered on the command line.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There are  two strategies to create multiple threads: </a:t>
                </a:r>
                <a:r>
                  <a:rPr lang="en-US" sz="2800" b="1" dirty="0"/>
                  <a:t>asynchronous</a:t>
                </a:r>
                <a:r>
                  <a:rPr lang="en-US" sz="2800" dirty="0"/>
                  <a:t> and </a:t>
                </a:r>
                <a:r>
                  <a:rPr lang="en-US" sz="2800" b="1" dirty="0"/>
                  <a:t>synchronous</a:t>
                </a:r>
                <a:r>
                  <a:rPr lang="en-US" sz="2800" dirty="0"/>
                  <a:t>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With </a:t>
                </a:r>
                <a:r>
                  <a:rPr lang="en-US" sz="2800" b="1" dirty="0"/>
                  <a:t>asynchronous</a:t>
                </a:r>
                <a:r>
                  <a:rPr lang="en-US" sz="2800" dirty="0"/>
                  <a:t>, once the parent thread creates a child thread, the parent resumes its execution, so parent and child execute concurrently.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33" y="773705"/>
                <a:ext cx="8382000" cy="5317674"/>
              </a:xfrm>
              <a:prstGeom prst="rect">
                <a:avLst/>
              </a:prstGeom>
              <a:blipFill rotWithShape="1">
                <a:blip r:embed="rId2"/>
                <a:stretch>
                  <a:fillRect l="-1455" t="-1032" r="-1527" b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4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/>
              <a:t>November 2016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Threads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600" smtClean="0"/>
              <a:pPr/>
              <a:t>20</a:t>
            </a:fld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72533" y="683695"/>
            <a:ext cx="8382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Each thread runs independently of other threads. The parent need not know when its child terminates.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Because of independency, there is little data sharing between threads.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81590" y="2753925"/>
            <a:ext cx="7335815" cy="1840067"/>
            <a:chOff x="656564" y="4284095"/>
            <a:chExt cx="7335815" cy="1840067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64" y="4284095"/>
              <a:ext cx="7335815" cy="1840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1740" y="5405877"/>
              <a:ext cx="1935215" cy="718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Rectangle 10"/>
          <p:cNvSpPr/>
          <p:nvPr/>
        </p:nvSpPr>
        <p:spPr>
          <a:xfrm>
            <a:off x="372533" y="4763758"/>
            <a:ext cx="838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b="1" dirty="0"/>
              <a:t>Synchronous</a:t>
            </a:r>
            <a:r>
              <a:rPr lang="en-US" sz="2800" dirty="0"/>
              <a:t> threading occurs when the parent must wait for all of its children to terminate before it resumes, called </a:t>
            </a:r>
            <a:r>
              <a:rPr lang="en-US" sz="2800" b="1" dirty="0">
                <a:solidFill>
                  <a:srgbClr val="0000FF"/>
                </a:solidFill>
              </a:rPr>
              <a:t>fork-join</a:t>
            </a:r>
            <a:r>
              <a:rPr lang="en-US" sz="2800" b="1" i="1" dirty="0"/>
              <a:t> </a:t>
            </a:r>
            <a:r>
              <a:rPr lang="en-US" sz="2800" dirty="0"/>
              <a:t>strategy.</a:t>
            </a:r>
          </a:p>
        </p:txBody>
      </p:sp>
    </p:spTree>
    <p:extLst>
      <p:ext uri="{BB962C8B-B14F-4D97-AF65-F5344CB8AC3E}">
        <p14:creationId xmlns:p14="http://schemas.microsoft.com/office/powerpoint/2010/main" val="62300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76545" y="773705"/>
            <a:ext cx="8161270" cy="5521889"/>
            <a:chOff x="476545" y="773705"/>
            <a:chExt cx="8161270" cy="5521889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545" y="773705"/>
              <a:ext cx="8161270" cy="288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545" y="3609020"/>
              <a:ext cx="6255695" cy="2686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5067055" y="565374"/>
            <a:ext cx="2025225" cy="461666"/>
            <a:chOff x="5067055" y="655384"/>
            <a:chExt cx="2025225" cy="461666"/>
          </a:xfrm>
        </p:grpSpPr>
        <p:sp>
          <p:nvSpPr>
            <p:cNvPr id="6" name="Rectangular Callout 5"/>
            <p:cNvSpPr/>
            <p:nvPr/>
          </p:nvSpPr>
          <p:spPr>
            <a:xfrm>
              <a:off x="5067055" y="655384"/>
              <a:ext cx="2025225" cy="461666"/>
            </a:xfrm>
            <a:prstGeom prst="wedgeRectCallout">
              <a:avLst>
                <a:gd name="adj1" fmla="val -131721"/>
                <a:gd name="adj2" fmla="val 2776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67055" y="655384"/>
              <a:ext cx="20252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Thread header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94975" y="2365574"/>
            <a:ext cx="2025225" cy="461666"/>
            <a:chOff x="5067055" y="655384"/>
            <a:chExt cx="2025225" cy="461666"/>
          </a:xfrm>
        </p:grpSpPr>
        <p:sp>
          <p:nvSpPr>
            <p:cNvPr id="13" name="Rectangular Callout 12"/>
            <p:cNvSpPr/>
            <p:nvPr/>
          </p:nvSpPr>
          <p:spPr>
            <a:xfrm>
              <a:off x="5067055" y="655384"/>
              <a:ext cx="2025225" cy="461666"/>
            </a:xfrm>
            <a:prstGeom prst="wedgeRectCallout">
              <a:avLst>
                <a:gd name="adj1" fmla="val -133602"/>
                <a:gd name="adj2" fmla="val 172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67055" y="655384"/>
              <a:ext cx="20252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Parent thread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72201" y="3957445"/>
            <a:ext cx="1012612" cy="461665"/>
            <a:chOff x="5067056" y="618508"/>
            <a:chExt cx="1012612" cy="461665"/>
          </a:xfrm>
        </p:grpSpPr>
        <p:sp>
          <p:nvSpPr>
            <p:cNvPr id="16" name="Rectangular Callout 15"/>
            <p:cNvSpPr/>
            <p:nvPr/>
          </p:nvSpPr>
          <p:spPr>
            <a:xfrm>
              <a:off x="5067056" y="655383"/>
              <a:ext cx="900100" cy="384649"/>
            </a:xfrm>
            <a:prstGeom prst="wedgeRectCallout">
              <a:avLst>
                <a:gd name="adj1" fmla="val -203837"/>
                <a:gd name="adj2" fmla="val 87406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67056" y="618508"/>
              <a:ext cx="10126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fork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292080" y="5319210"/>
            <a:ext cx="1012612" cy="461665"/>
            <a:chOff x="5067056" y="618508"/>
            <a:chExt cx="1012612" cy="461665"/>
          </a:xfrm>
        </p:grpSpPr>
        <p:sp>
          <p:nvSpPr>
            <p:cNvPr id="22" name="Rectangular Callout 21"/>
            <p:cNvSpPr/>
            <p:nvPr/>
          </p:nvSpPr>
          <p:spPr>
            <a:xfrm>
              <a:off x="5067056" y="655383"/>
              <a:ext cx="900100" cy="384649"/>
            </a:xfrm>
            <a:prstGeom prst="wedgeRectCallout">
              <a:avLst>
                <a:gd name="adj1" fmla="val -184083"/>
                <a:gd name="adj2" fmla="val -6777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67056" y="618508"/>
              <a:ext cx="10126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join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90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215820" y="683695"/>
            <a:ext cx="6686550" cy="5265585"/>
            <a:chOff x="1395840" y="458670"/>
            <a:chExt cx="6686550" cy="526558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1495155"/>
              <a:ext cx="6343650" cy="422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840" y="458670"/>
              <a:ext cx="6686550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6715" y="876300"/>
              <a:ext cx="3952875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3649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November 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Threads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5" y="1358770"/>
            <a:ext cx="8198830" cy="282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61610" y="4570965"/>
            <a:ext cx="697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POSIX Pthread code for joining ten threads.</a:t>
            </a:r>
          </a:p>
        </p:txBody>
      </p:sp>
    </p:spTree>
    <p:extLst>
      <p:ext uri="{BB962C8B-B14F-4D97-AF65-F5344CB8AC3E}">
        <p14:creationId xmlns:p14="http://schemas.microsoft.com/office/powerpoint/2010/main" val="133974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1366</Words>
  <Application>Microsoft Office PowerPoint</Application>
  <PresentationFormat>On-screen Show (4:3)</PresentationFormat>
  <Paragraphs>157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Wimer</dc:creator>
  <cp:lastModifiedBy>mohammad.faseehuddin</cp:lastModifiedBy>
  <cp:revision>309</cp:revision>
  <cp:lastPrinted>2016-10-11T08:32:29Z</cp:lastPrinted>
  <dcterms:created xsi:type="dcterms:W3CDTF">2006-08-16T00:00:00Z</dcterms:created>
  <dcterms:modified xsi:type="dcterms:W3CDTF">2026-04-28T10:34:49Z</dcterms:modified>
</cp:coreProperties>
</file>