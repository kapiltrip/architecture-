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8" r:id="rId2"/>
    <p:sldId id="259" r:id="rId3"/>
    <p:sldId id="260" r:id="rId4"/>
    <p:sldId id="261" r:id="rId5"/>
    <p:sldId id="262" r:id="rId6"/>
    <p:sldId id="263" r:id="rId7"/>
    <p:sldId id="264" r:id="rId8"/>
    <p:sldId id="265" r:id="rId9"/>
    <p:sldId id="266" r:id="rId10"/>
    <p:sldId id="267" r:id="rId11"/>
    <p:sldId id="268" r:id="rId12"/>
    <p:sldId id="269" r:id="rId13"/>
    <p:sldId id="270" r:id="rId14"/>
    <p:sldId id="271" r:id="rId15"/>
    <p:sldId id="272" r:id="rId16"/>
    <p:sldId id="273" r:id="rId17"/>
    <p:sldId id="274" r:id="rId18"/>
    <p:sldId id="275" r:id="rId19"/>
    <p:sldId id="276" r:id="rId20"/>
    <p:sldId id="277" r:id="rId21"/>
    <p:sldId id="278" r:id="rId22"/>
    <p:sldId id="279" r:id="rId23"/>
    <p:sldId id="280" r:id="rId24"/>
    <p:sldId id="281" r:id="rId25"/>
    <p:sldId id="282" r:id="rId26"/>
    <p:sldId id="283" r:id="rId27"/>
    <p:sldId id="284" r:id="rId28"/>
    <p:sldId id="285" r:id="rId29"/>
    <p:sldId id="286" r:id="rId30"/>
    <p:sldId id="287" r:id="rId31"/>
    <p:sldId id="288" r:id="rId32"/>
    <p:sldId id="289" r:id="rId33"/>
    <p:sldId id="290" r:id="rId34"/>
    <p:sldId id="291" r:id="rId35"/>
    <p:sldId id="292" r:id="rId3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80" d="100"/>
          <a:sy n="80" d="100"/>
        </p:scale>
        <p:origin x="1522" y="5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heme" Target="theme/theme1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presProps" Target="presProps.xml"/><Relationship Id="rId40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3/17/2026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Why Computer Architecture Matters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Computer architecture determines how efficiently hardware executes software.</a:t>
            </a:r>
          </a:p>
          <a:p>
            <a:pPr>
              <a:defRPr sz="2000"/>
            </a:pPr>
            <a:r>
              <a:t>Performance improvements historically came from both technology scaling and architectural innovation.</a:t>
            </a:r>
          </a:p>
          <a:p>
            <a:pPr>
              <a:defRPr sz="2000"/>
            </a:pPr>
            <a:r>
              <a:t>Today, architectural decisions dominate because technology scaling alone is insufficient.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Why Quantitative Design?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Modern processors involve complex interactions between hardware, software, and workloads.</a:t>
            </a:r>
          </a:p>
          <a:p>
            <a:pPr>
              <a:defRPr sz="2000"/>
            </a:pPr>
            <a:r>
              <a:t>Intuition-based design often leads to misleading conclusions.</a:t>
            </a:r>
          </a:p>
          <a:p>
            <a:pPr>
              <a:defRPr sz="2000"/>
            </a:pPr>
            <a:r>
              <a:t>Quantitative analysis provides objective metrics to evaluate architectural choices.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Technology vs 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Technology improvements improve clock speed, density, and energy efficiency.</a:t>
            </a:r>
          </a:p>
          <a:p>
            <a:pPr>
              <a:defRPr sz="2000"/>
            </a:pPr>
            <a:r>
              <a:t>Architectural improvements improve CPI, parallelism, and memory behavior.</a:t>
            </a:r>
          </a:p>
          <a:p>
            <a:pPr>
              <a:defRPr sz="2000"/>
            </a:pPr>
            <a:r>
              <a:t>Sustainable performance growth requires both.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2. Classes of Computers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Different workloads demand different architectures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Personal Mobile Devices (PMDs)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Examples include smartphones, tablets, and wearables.</a:t>
            </a:r>
          </a:p>
          <a:p>
            <a:pPr>
              <a:defRPr sz="2000"/>
            </a:pPr>
            <a:r>
              <a:t>Primary constraints are energy efficiency, cost, and responsiveness.</a:t>
            </a:r>
          </a:p>
          <a:p>
            <a:pPr>
              <a:defRPr sz="2000"/>
            </a:pPr>
            <a:r>
              <a:t>Architectures favor low-power cores and specialized accelerators.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Desktop and Workstation Systems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Target single-user performance and interactive workloads.</a:t>
            </a:r>
          </a:p>
          <a:p>
            <a:pPr>
              <a:defRPr sz="2000"/>
            </a:pPr>
            <a:r>
              <a:t>Balance performance per dollar with power consumption.</a:t>
            </a:r>
          </a:p>
          <a:p>
            <a:pPr>
              <a:defRPr sz="2000"/>
            </a:pPr>
            <a:r>
              <a:t>Often use high-performance cores with deep pipelines.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Servers and Warehouse-Scale Computers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Designed for throughput, availability, and scalability.</a:t>
            </a:r>
          </a:p>
          <a:p>
            <a:pPr>
              <a:defRPr sz="2000"/>
            </a:pPr>
            <a:r>
              <a:t>Architectures emphasize multicore, memory bandwidth, and reliability.</a:t>
            </a:r>
          </a:p>
          <a:p>
            <a:pPr>
              <a:defRPr sz="2000"/>
            </a:pPr>
            <a:r>
              <a:t>Performance per watt is a critical metric.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Embedded and IoT Systems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Designed for specific applications with real-time constraints.</a:t>
            </a:r>
          </a:p>
          <a:p>
            <a:pPr>
              <a:defRPr sz="2000"/>
            </a:pPr>
            <a:r>
              <a:t>Architectures are often highly customized.</a:t>
            </a:r>
          </a:p>
          <a:p>
            <a:pPr>
              <a:defRPr sz="2000"/>
            </a:pPr>
            <a:r>
              <a:t>Energy efficiency and predictability dominate design.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3. Defining Computer Architecture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ISA, Microarchitecture, and System Design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Instruction Set Architecture (ISA)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ISA defines the programmer-visible interface of a processor.</a:t>
            </a:r>
          </a:p>
          <a:p>
            <a:pPr>
              <a:defRPr sz="2000"/>
            </a:pPr>
            <a:r>
              <a:t>Includes instructions, registers, addressing modes, and data types.</a:t>
            </a:r>
          </a:p>
          <a:p>
            <a:pPr>
              <a:defRPr sz="2000"/>
            </a:pPr>
            <a:r>
              <a:t>Ensures binary compatibility across processor generations.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Microarchitecture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Microarchitecture defines how the ISA is implemented.</a:t>
            </a:r>
          </a:p>
          <a:p>
            <a:pPr>
              <a:defRPr sz="2000"/>
            </a:pPr>
            <a:r>
              <a:t>Includes pipelines, execution units, caches, and branch predictors.</a:t>
            </a:r>
          </a:p>
          <a:p>
            <a:pPr>
              <a:defRPr sz="2000"/>
            </a:pPr>
            <a:r>
              <a:t>Different microarchitectures can implement the same ISA.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System 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Extends beyond the CPU core.</a:t>
            </a:r>
          </a:p>
          <a:p>
            <a:pPr>
              <a:defRPr sz="2000"/>
            </a:pPr>
            <a:r>
              <a:t>Includes memory hierarchy, I/O, interconnects, and storage.</a:t>
            </a:r>
          </a:p>
          <a:p>
            <a:pPr>
              <a:defRPr sz="2000"/>
            </a:pPr>
            <a:r>
              <a:t>Strongly affects overall system performance.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4. Technology Trends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From Moore’s Law to the Power Wall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Moore’s Law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Historically, transistor count doubled approximately every two years.</a:t>
            </a:r>
          </a:p>
          <a:p>
            <a:pPr>
              <a:defRPr sz="2000"/>
            </a:pPr>
            <a:r>
              <a:t>Enabled rapid performance and functionality growth.</a:t>
            </a:r>
          </a:p>
          <a:p>
            <a:pPr>
              <a:defRPr sz="2000"/>
            </a:pPr>
            <a:r>
              <a:t>Scaling is slowing due to physical limitations.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Dennard Scaling Breakdown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Voltage scaling no longer keeps pace with transistor scaling.</a:t>
            </a:r>
          </a:p>
          <a:p>
            <a:pPr>
              <a:defRPr sz="2000"/>
            </a:pPr>
            <a:r>
              <a:t>Power density increases led to thermal constraints.</a:t>
            </a:r>
          </a:p>
          <a:p>
            <a:pPr>
              <a:defRPr sz="2000"/>
            </a:pPr>
            <a:r>
              <a:t>Frequency scaling stalled as a result.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Shift to Parallelism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Performance growth shifted from faster cores to more cores.</a:t>
            </a:r>
          </a:p>
          <a:p>
            <a:pPr>
              <a:defRPr sz="2000"/>
            </a:pPr>
            <a:r>
              <a:t>Multicore and manycore architectures emerged.</a:t>
            </a:r>
          </a:p>
          <a:p>
            <a:pPr>
              <a:defRPr sz="2000"/>
            </a:pPr>
            <a:r>
              <a:t>Software parallelism became critical.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5. Power, Energy, and Cost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Why efficiency dominates modern design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Dynamic Power Consumption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Dynamic power is proportional to capacitance, voltage squared, and frequency.</a:t>
            </a:r>
          </a:p>
          <a:p>
            <a:pPr>
              <a:defRPr sz="2000"/>
            </a:pPr>
            <a:r>
              <a:t>Reducing voltage yields the largest power savings.</a:t>
            </a:r>
          </a:p>
          <a:p>
            <a:pPr>
              <a:defRPr sz="2000"/>
            </a:pPr>
            <a:r>
              <a:t>However, lower voltage limits maximum frequency.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Static Power and Leakage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Leakage currents increase with smaller geometries.</a:t>
            </a:r>
          </a:p>
          <a:p>
            <a:pPr>
              <a:defRPr sz="2000"/>
            </a:pPr>
            <a:r>
              <a:t>Static power is significant even when circuits are idle.</a:t>
            </a:r>
          </a:p>
          <a:p>
            <a:pPr>
              <a:defRPr sz="2000"/>
            </a:pPr>
            <a:r>
              <a:t>Architectures use power gating and clock gating to mitigate leakage.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Cost Trends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Chip cost depends on die area, yield, and process technology.</a:t>
            </a:r>
          </a:p>
          <a:p>
            <a:pPr>
              <a:defRPr sz="2000"/>
            </a:pPr>
            <a:r>
              <a:t>Smaller dies improve yield and reduce cost.</a:t>
            </a:r>
          </a:p>
          <a:p>
            <a:pPr>
              <a:defRPr sz="2000"/>
            </a:pPr>
            <a:r>
              <a:t>Advanced nodes significantly increase NRE cost.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6. Dependability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Reliability and availability as first-class concerns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Reliability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Reliability measures how often a system fails.</a:t>
            </a:r>
          </a:p>
          <a:p>
            <a:pPr>
              <a:defRPr sz="2000"/>
            </a:pPr>
            <a:r>
              <a:t>Mean Time To Failure (MTTF) is a common metric.</a:t>
            </a:r>
          </a:p>
          <a:p>
            <a:pPr>
              <a:defRPr sz="2000"/>
            </a:pPr>
            <a:r>
              <a:t>Higher reliability is essential for servers and data centers.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Availability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Availability accounts for both failure and repair time.</a:t>
            </a:r>
          </a:p>
          <a:p>
            <a:pPr>
              <a:defRPr sz="2000"/>
            </a:pPr>
            <a:r>
              <a:t>Defined as MTTF / (MTTF + MTTR).</a:t>
            </a:r>
          </a:p>
          <a:p>
            <a:pPr>
              <a:defRPr sz="2000"/>
            </a:pPr>
            <a:r>
              <a:t>Fast recovery can improve availability even if failures occur.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7. Measuring Performance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The processor performance equation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Why Execution Time Matters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Execution time directly reflects user-perceived performance.</a:t>
            </a:r>
          </a:p>
          <a:p>
            <a:pPr>
              <a:defRPr sz="2000"/>
            </a:pPr>
            <a:r>
              <a:t>Frequency alone is misleading.</a:t>
            </a:r>
          </a:p>
          <a:p>
            <a:pPr>
              <a:defRPr sz="2000"/>
            </a:pPr>
            <a:r>
              <a:t>Lower execution time always implies better performance.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Processor Performance Equation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CPU Time = Instruction Count × CPI × Clock Cycle Time.</a:t>
            </a:r>
          </a:p>
          <a:p>
            <a:pPr>
              <a:defRPr sz="2000"/>
            </a:pPr>
            <a:r>
              <a:t>Separates performance into controllable components.</a:t>
            </a:r>
          </a:p>
          <a:p>
            <a:pPr>
              <a:defRPr sz="2000"/>
            </a:pPr>
            <a:r>
              <a:t>Enables targeted optimization.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Instruction Count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Depends on program, compiler, and ISA.</a:t>
            </a:r>
          </a:p>
          <a:p>
            <a:pPr>
              <a:defRPr sz="2000"/>
            </a:pPr>
            <a:r>
              <a:t>Richer ISAs may reduce instruction count.</a:t>
            </a:r>
          </a:p>
          <a:p>
            <a:pPr>
              <a:defRPr sz="2000"/>
            </a:pPr>
            <a:r>
              <a:t>Compiler optimizations play a major role.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Cycles Per Instruction (CPI)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Reflects microarchitectural efficiency.</a:t>
            </a:r>
          </a:p>
          <a:p>
            <a:pPr>
              <a:defRPr sz="2000"/>
            </a:pPr>
            <a:r>
              <a:t>Affected by pipelines, caches, and branch prediction.</a:t>
            </a:r>
          </a:p>
          <a:p>
            <a:pPr>
              <a:defRPr sz="2000"/>
            </a:pPr>
            <a:r>
              <a:t>Lower CPI indicates better utilization of hardware.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Clock Cycle Time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Determined by the critical path.</a:t>
            </a:r>
          </a:p>
          <a:p>
            <a:pPr>
              <a:defRPr sz="2000"/>
            </a:pPr>
            <a:r>
              <a:t>Shorter cycles increase frequency but increase power.</a:t>
            </a:r>
          </a:p>
          <a:p>
            <a:pPr>
              <a:defRPr sz="2000"/>
            </a:pPr>
            <a:r>
              <a:t>Tradeoff between performance and energy.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8. Amdahl’s Law &amp; Design Principles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Limits of optimization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Amdahl’s Law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Overall speedup is limited by the fraction improved.</a:t>
            </a:r>
          </a:p>
          <a:p>
            <a:pPr>
              <a:defRPr sz="2000"/>
            </a:pPr>
            <a:r>
              <a:t>Speedup = 1 / ((1 − f) + f / s).</a:t>
            </a:r>
          </a:p>
          <a:p>
            <a:pPr>
              <a:defRPr sz="2000"/>
            </a:pPr>
            <a:r>
              <a:t>Optimizing rare events yields little benefit.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Make the Common Case Fast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Focus optimization on frequently executed paths.</a:t>
            </a:r>
          </a:p>
          <a:p>
            <a:pPr>
              <a:defRPr sz="2000"/>
            </a:pPr>
            <a:r>
              <a:t>Yields maximum performance benefit.</a:t>
            </a:r>
          </a:p>
          <a:p>
            <a:pPr>
              <a:defRPr sz="2000"/>
            </a:pPr>
            <a:r>
              <a:t>A core quantitative design principle.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9. Fallacies, Pitfalls, and Summary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Thinking like an architect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Common Fallacies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Peak performance equals real performance.</a:t>
            </a:r>
          </a:p>
          <a:p>
            <a:pPr>
              <a:defRPr sz="2000"/>
            </a:pPr>
            <a:r>
              <a:t>Linear scaling with added cores.</a:t>
            </a:r>
          </a:p>
          <a:p>
            <a:pPr>
              <a:defRPr sz="2000"/>
            </a:pPr>
            <a:r>
              <a:t>Ignoring power constraints.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Takeaways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Quantitative analysis is essential for architectural decisions.</a:t>
            </a:r>
          </a:p>
          <a:p>
            <a:pPr>
              <a:defRPr sz="2000"/>
            </a:pPr>
            <a:r>
              <a:t>Performance must be evaluated holistically.</a:t>
            </a:r>
          </a:p>
          <a:p>
            <a:pPr>
              <a:defRPr sz="2000"/>
            </a:pPr>
            <a:r>
              <a:t>These principles guide all subsequent chapters.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60</TotalTime>
  <Words>850</Words>
  <Application>Microsoft Office PowerPoint</Application>
  <PresentationFormat>On-screen Show (4:3)</PresentationFormat>
  <Paragraphs>124</Paragraphs>
  <Slides>35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35</vt:i4>
      </vt:variant>
    </vt:vector>
  </HeadingPairs>
  <TitlesOfParts>
    <vt:vector size="38" baseType="lpstr">
      <vt:lpstr>Arial</vt:lpstr>
      <vt:lpstr>Calibri</vt:lpstr>
      <vt:lpstr>Office Theme</vt:lpstr>
      <vt:lpstr>Why Computer Architecture Matters</vt:lpstr>
      <vt:lpstr>Why Quantitative Design?</vt:lpstr>
      <vt:lpstr>Technology vs Architecture</vt:lpstr>
      <vt:lpstr>2. Classes of Computers</vt:lpstr>
      <vt:lpstr>Personal Mobile Devices (PMDs)</vt:lpstr>
      <vt:lpstr>Desktop and Workstation Systems</vt:lpstr>
      <vt:lpstr>Servers and Warehouse-Scale Computers</vt:lpstr>
      <vt:lpstr>Embedded and IoT Systems</vt:lpstr>
      <vt:lpstr>3. Defining Computer Architecture</vt:lpstr>
      <vt:lpstr>Instruction Set Architecture (ISA)</vt:lpstr>
      <vt:lpstr>Microarchitecture</vt:lpstr>
      <vt:lpstr>System Architecture</vt:lpstr>
      <vt:lpstr>4. Technology Trends</vt:lpstr>
      <vt:lpstr>Moore’s Law</vt:lpstr>
      <vt:lpstr>Dennard Scaling Breakdown</vt:lpstr>
      <vt:lpstr>Shift to Parallelism</vt:lpstr>
      <vt:lpstr>5. Power, Energy, and Cost</vt:lpstr>
      <vt:lpstr>Dynamic Power Consumption</vt:lpstr>
      <vt:lpstr>Static Power and Leakage</vt:lpstr>
      <vt:lpstr>Cost Trends</vt:lpstr>
      <vt:lpstr>6. Dependability</vt:lpstr>
      <vt:lpstr>Reliability</vt:lpstr>
      <vt:lpstr>Availability</vt:lpstr>
      <vt:lpstr>7. Measuring Performance</vt:lpstr>
      <vt:lpstr>Why Execution Time Matters</vt:lpstr>
      <vt:lpstr>Processor Performance Equation</vt:lpstr>
      <vt:lpstr>Instruction Count</vt:lpstr>
      <vt:lpstr>Cycles Per Instruction (CPI)</vt:lpstr>
      <vt:lpstr>Clock Cycle Time</vt:lpstr>
      <vt:lpstr>8. Amdahl’s Law &amp; Design Principles</vt:lpstr>
      <vt:lpstr>Amdahl’s Law</vt:lpstr>
      <vt:lpstr>Make the Common Case Fast</vt:lpstr>
      <vt:lpstr>9. Fallacies, Pitfalls, and Summary</vt:lpstr>
      <vt:lpstr>Common Fallacies</vt:lpstr>
      <vt:lpstr>Key Takeaways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Why Computer Architecture Matters</dc:title>
  <dc:subject/>
  <dc:creator>Mohd Faseehuddin</dc:creator>
  <cp:keywords/>
  <dc:description>generated using python-pptx</dc:description>
  <cp:lastModifiedBy>mohammad.faseehuddin</cp:lastModifiedBy>
  <cp:revision>3</cp:revision>
  <dcterms:created xsi:type="dcterms:W3CDTF">2013-01-27T09:14:16Z</dcterms:created>
  <dcterms:modified xsi:type="dcterms:W3CDTF">2026-03-17T04:55:46Z</dcterms:modified>
  <cp:category/>
</cp:coreProperties>
</file>